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embeddings/oleObject1" ContentType="application/vnd.openxmlformats-officedocument.spreadsheetml.shee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54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id="{B1E6FE98-4C69-E122-9E70-4B306300FB89}" name="시작">
          <p14:sldIdLst>
            <p14:sldId id="256"/>
          </p14:sldIdLst>
        </p14:section>
        <p14:section id="{98678CD8-91F4-B329-E59F-7D3CDCFBC21D}" name="배경과 목표">
          <p14:sldIdLst>
            <p14:sldId id="257"/>
            <p14:sldId id="258"/>
          </p14:sldIdLst>
        </p14:section>
        <p14:section id="{23F32997-7E69-8E17-9AAF-4FA38C900803}" name="시연">
          <p14:sldIdLst>
            <p14:sldId id="259"/>
            <p14:sldId id="260"/>
            <p14:sldId id="261"/>
          </p14:sldIdLst>
        </p14:section>
        <p14:section id="{B197C824-CCEA-858D-4103-27033435C4C3}" name="결과와 계획">
          <p14:sldIdLst>
            <p14:sldId id="262"/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presProps" Target="presProps.xml"  /><Relationship Id="rId13" Type="http://schemas.openxmlformats.org/officeDocument/2006/relationships/viewProps" Target="viewProps.xml"  /><Relationship Id="rId14" Type="http://schemas.openxmlformats.org/officeDocument/2006/relationships/theme" Target="theme/theme1.xml"  /><Relationship Id="rId15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charts/_rels/chart1.xml.rels><?xml version="1.0" encoding="UTF-8" standalone="yes" ?><Relationships xmlns="http://schemas.openxmlformats.org/package/2006/relationships"><Relationship Id="rId1" Type="http://schemas.openxmlformats.org/officeDocument/2006/relationships/package" Target="../embeddings/oleObject1"  /></Relationships>
</file>

<file path=ppt/charts/chart1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roundedCorners val="0"/>
  <c:chart>
    <c:title>
      <c:tx>
        <c:rich>
          <a:bodyPr rot="0" vert="horz" wrap="none" lIns="0" tIns="0" rIns="0" bIns="0" anchor="ctr" anchorCtr="1"/>
          <a:p>
            <a:pPr algn="l">
              <a:defRPr sz="1200" b="0" i="0" u="none">
                <a:solidFill>
                  <a:srgbClr val="1b2a4a"/>
                </a:solidFill>
                <a:latin typeface="+mn-lt"/>
              </a:defRPr>
            </a:pPr>
            <a:r>
              <a:rPr sz="1200" b="0" i="0" u="none">
                <a:solidFill>
                  <a:srgbClr val="1b2a4a"/>
                </a:solidFill>
                <a:latin typeface="+mn-lt"/>
              </a:rPr>
              <a:t>월별 조정·삭감률 (2026년 1~6월, %)</a:t>
            </a:r>
            <a:endParaRPr/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조정·삭감률(%)</c:v>
                </c:pt>
              </c:strCache>
            </c:strRef>
          </c:tx>
          <c:spPr>
            <a:solidFill>
              <a:srgbClr val="c62828"/>
            </a:solidFill>
            <a:ln w="31750" cap="flat" cmpd="sng">
              <a:solidFill>
                <a:srgbClr val="c62828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c62828"/>
              </a:solidFill>
              <a:ln w="9525" cap="flat" cmpd="sng">
                <a:solidFill>
                  <a:srgbClr val="c62828"/>
                </a:solidFill>
                <a:prstDash val="solid"/>
                <a:round/>
              </a:ln>
              <a:effectLst/>
            </c:spPr>
          </c:marker>
          <c:dLbls>
            <c:delete val="0"/>
            <c:numFmt formatCode="0.00" sourceLinked="0"/>
            <c:txPr>
              <a:bodyPr rot="0" vert="horz" wrap="none" lIns="0" tIns="0" rIns="0" bIns="0" anchor="ctr" anchorCtr="1"/>
              <a:p>
                <a:pPr algn="l">
                  <a:defRPr sz="1000" b="0" i="0" u="none">
                    <a:solidFill>
                      <a:srgbClr val="000000"/>
                    </a:solidFill>
                    <a:latin typeface="+mn-lt"/>
                  </a:defRPr>
                </a:pPr>
                <a:endParaRPr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5.82</c:v>
                </c:pt>
                <c:pt idx="1">
                  <c:v>3.73</c:v>
                </c:pt>
                <c:pt idx="2">
                  <c:v>4.72</c:v>
                </c:pt>
                <c:pt idx="3">
                  <c:v>3.34</c:v>
                </c:pt>
                <c:pt idx="4">
                  <c:v>4.83</c:v>
                </c:pt>
                <c:pt idx="5">
                  <c:v>4.39</c:v>
                </c:pt>
              </c:numCache>
            </c:numRef>
          </c:val>
          <c:smooth val="0"/>
        </c:ser>
        <c:dLbls>
          <c:delete val="0"/>
          <c:numFmt formatCode="0.00" sourceLinked="0"/>
          <c:txPr>
            <a:bodyPr rot="0" vert="horz" wrap="none" lIns="0" tIns="0" rIns="0" bIns="0" anchor="ctr" anchorCtr="1"/>
            <a:p>
              <a:pPr algn="l">
                <a:defRPr sz="1000" b="0" i="0" u="none">
                  <a:solidFill>
                    <a:srgbClr val="000000"/>
                  </a:solidFill>
                  <a:latin typeface="+mn-lt"/>
                </a:defRPr>
              </a:pPr>
              <a:endParaRPr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smooth val="0"/>
        <c:axId val="2094734554"/>
        <c:axId val="2094734552"/>
        <c:axId val="2094734556"/>
      </c:lineChart>
      <c:catAx>
        <c:axId val="2094734554"/>
        <c:scaling>
          <c:orientation val="minMax"/>
        </c:scaling>
        <c:axPos val="b"/>
        <c:crossAx val="2094734552"/>
        <c:delete val="0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 wrap="none" lIns="0" tIns="0" rIns="0" bIns="0" anchor="ctr" anchorCtr="1"/>
          <a:p>
            <a:pPr algn="l">
              <a:defRPr sz="1200" b="0" i="0" u="none">
                <a:solidFill>
                  <a:srgbClr val="4a5568"/>
                </a:solidFill>
                <a:latin typeface="+mn-lt"/>
              </a:defRPr>
            </a:pPr>
            <a:endParaRPr/>
          </a:p>
        </c:txPr>
        <c:crosses val="autoZero"/>
        <c:auto val="1"/>
        <c:lblAlgn val="ctr"/>
        <c:lblOffset val="100"/>
        <c:tickMarkSkip val="1"/>
        <c:noMultiLvlLbl val="1"/>
      </c:catAx>
      <c:valAx>
        <c:axId val="2094734552"/>
        <c:scaling>
          <c:orientation val="minMax"/>
          <c:max val="7"/>
          <c:min val="0"/>
        </c:scaling>
        <c:axPos val="l"/>
        <c:crossAx val="2094734554"/>
        <c:delete val="0"/>
        <c:majorGridlines>
          <c:spPr>
            <a:ln w="6350" cap="flat">
              <a:solidFill>
                <a:srgbClr val="e5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 wrap="none" lIns="0" tIns="0" rIns="0" bIns="0" anchor="ctr" anchorCtr="1"/>
          <a:p>
            <a:pPr algn="l">
              <a:defRPr sz="1200" b="0" i="0" u="none">
                <a:solidFill>
                  <a:srgbClr val="8a97ad"/>
                </a:solidFill>
                <a:latin typeface="+mn-lt"/>
              </a:defRPr>
            </a:pPr>
            <a:endParaRPr/>
          </a:p>
        </c:txPr>
        <c:crosses val="autoZero"/>
        <c:crossBetween val="between"/>
      </c:valAx>
      <c:spPr>
        <a:noFill/>
        <a:ln>
          <a:noFill/>
        </a:ln>
        <a:effectLst/>
      </c:spPr>
    </c:plotArea>
    <c:plotVisOnly val="0"/>
    <c:dispBlanksAs val="gap"/>
  </c:chart>
  <c:spPr>
    <a:noFill/>
    <a:ln w="9525">
      <a:noFill/>
    </a:ln>
    <a:effectLst/>
  </c:spPr>
  <c:extLst>
    <c:ext uri="CC8EB2C9-7E31-499d-B8F2-F6CE61031016">
      <ho:hncChartStyle xmlns:ho="http://schemas.haansoft.com/office/8.0" layoutIndex="-1" colorIndex="-1" styleIndex="-1"/>
    </c:ext>
  </c:extLst>
</c:chartSpace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282F153-3F37-0F45-9E97-73ACFA13230C}" type="datetime1">
              <a:rPr lang="en-US"/>
              <a:pPr lvl="0">
                <a:defRPr/>
              </a:pPr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CE5E9CC1-C706-0F49-92D6-E571CC5EEA8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안녕하세요. 저희는 경대재활요양병원 심사청구팀과 함께, 엑셀 파일을 올리면 심사청구 통계가 대시보드로 바로 보이는 프로그램을 만들었습니다.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병원에서는 원데이터를 엑셀로 가공한 다음 통계를 수기로 정리하고 있습니다. 시간이 오래 걸리고, 옮겨 적다 보면 오류가 생기고, 표만으로는 추이를 보기 어렵습니다.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저희 과제의 범위입니다. 병원에서 가공된 원데이터 엑셀 하나를 받아서, 올리면 대시보드로 보이게 만드는 것입니다. 그리고 원데이터와 수기로 작업된 엑셀을 함께 받아 수치가 맞는지 검증합니다.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프로그램은 파이썬 Streamlit으로 만들었습니다. 실행 파일을 더블클릭하면 브라우저에 화면이 열립니다.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상단 조회 조건에서 기간, 환자구분, 진료과를 바꾸면 지표, 차트, 보고서가 모두 같이 바뀝니다. 삭감률이 경고 기준을 넘으면 경고가 뜹니다.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차트는 네 가지입니다. 월별 추이, 심사결과 분포, 진료과별 청구금액, 조정·삭감 사유별 건수입니다. 아래에서 Excel과 PDF 보고서를 바로 내려받을 수 있습니다.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더미 데이터 2026년 상반기 6개월 결과입니다. 1,342건, 9.42억 원을 청구했고 평균 조정·삭감률은 4.45%입니다. 1월이 5.82%로 가장 높고 4월이 3.34%로 가장 낮습니다. 사유는 A02 입원일수 초과가 63건으로 가장 많았습니다.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기대 효과는 시간 단축, 오류 감소, 삭감 관리 활용입니다. 다음으로 병원 실데이터와 수기 작업 엑셀을 받아 지표를 확정하고, 두 결과가 일치하는지 검증하겠습니다.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경대재활요양병원 연계 캡스톤디자인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3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4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image" Target="../media/image1.png"  /><Relationship Id="rId2" Type="http://schemas.openxmlformats.org/officeDocument/2006/relationships/slideLayout" Target="../slideLayouts/slideLayout2.xml"  /><Relationship Id="rId3" Type="http://schemas.openxmlformats.org/officeDocument/2006/relationships/notesSlide" Target="../notesSlides/notesSlide5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image" Target="../media/image2.png"  /><Relationship Id="rId2" Type="http://schemas.openxmlformats.org/officeDocument/2006/relationships/slideLayout" Target="../slideLayouts/slideLayout2.xml"  /><Relationship Id="rId3" Type="http://schemas.openxmlformats.org/officeDocument/2006/relationships/notesSlide" Target="../notesSlides/notesSlide6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chart" Target="../charts/chart1.xml"  /><Relationship Id="rId2" Type="http://schemas.openxmlformats.org/officeDocument/2006/relationships/slideLayout" Target="../slideLayouts/slideLayout2.xml"  /><Relationship Id="rId3" Type="http://schemas.openxmlformats.org/officeDocument/2006/relationships/notesSlide" Target="../notesSlides/notesSlide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8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3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marL="0" indent="0">
              <a:buNone/>
              <a:defRPr/>
            </a:pPr>
            <a:r>
              <a:rPr lang="en-US" sz="3200" b="1">
                <a:solidFill>
                  <a:schemeClr val="bg1"/>
                </a:solidFill>
              </a:rPr>
              <a:t>엑셀 업로드형</a:t>
            </a:r>
            <a:endParaRPr lang="en-US" sz="3200" b="1">
              <a:solidFill>
                <a:schemeClr val="bg1"/>
              </a:solidFill>
            </a:endParaRPr>
          </a:p>
          <a:p>
            <a:pPr marL="0" indent="0">
              <a:buNone/>
              <a:defRPr/>
            </a:pPr>
            <a:r>
              <a:rPr lang="en-US" sz="3200" b="1">
                <a:solidFill>
                  <a:schemeClr val="bg1"/>
                </a:solidFill>
              </a:rPr>
              <a:t>심사청구 통계 대시보드</a:t>
            </a:r>
            <a:endParaRPr lang="en-US" sz="3200"/>
          </a:p>
        </p:txBody>
      </p:sp>
      <p:sp>
        <p:nvSpPr>
          <p:cNvPr id="3" name="Text 1"/>
          <p:cNvSpPr txBox="1"/>
          <p:nvPr/>
        </p:nvSpPr>
        <p:spPr>
          <a:xfrm>
            <a:off x="548640" y="2788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chemeClr val="accent6"/>
                </a:solidFill>
              </a:rPr>
              <a:t>가공된 원데이터 기반 통계보고 자동화 프로토타입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548640" y="3337560"/>
            <a:ext cx="109728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  <p:txBody>
          <a:bodyPr wrap="square" anchor="ctr"/>
          <a:p>
            <a:pPr algn="ctr">
              <a:defRPr/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3520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b8c4d9"/>
                </a:solidFill>
              </a:rPr>
              <a:t>경대재활요양병원 연계 캡스톤디자인   |   </a:t>
            </a:r>
            <a:r>
              <a:rPr lang="en-US" altLang="ko-KR" sz="1200">
                <a:solidFill>
                  <a:srgbClr val="b8c4d9"/>
                </a:solidFill>
              </a:rPr>
              <a:t>A-IDEA</a:t>
            </a:r>
            <a:r>
              <a:rPr lang="en-US" sz="1200">
                <a:solidFill>
                  <a:srgbClr val="b8c4d9"/>
                </a:solidFill>
              </a:rPr>
              <a:t> / </a:t>
            </a:r>
            <a:r>
              <a:rPr lang="ko-KR" altLang="en-US" sz="1200">
                <a:solidFill>
                  <a:srgbClr val="b8c4d9"/>
                </a:solidFill>
              </a:rPr>
              <a:t>박현민</a:t>
            </a:r>
            <a:r>
              <a:rPr lang="en-US" altLang="ko-KR" sz="1200">
                <a:solidFill>
                  <a:srgbClr val="b8c4d9"/>
                </a:solidFill>
              </a:rPr>
              <a:t>,</a:t>
            </a:r>
            <a:r>
              <a:rPr lang="ko-KR" altLang="en-US" sz="1200">
                <a:solidFill>
                  <a:srgbClr val="b8c4d9"/>
                </a:solidFill>
              </a:rPr>
              <a:t>정이현</a:t>
            </a:r>
            <a:r>
              <a:rPr lang="en-US" altLang="ko-KR" sz="1200">
                <a:solidFill>
                  <a:srgbClr val="b8c4d9"/>
                </a:solidFill>
              </a:rPr>
              <a:t>,</a:t>
            </a:r>
            <a:r>
              <a:rPr lang="ko-KR" altLang="en-US" sz="1200">
                <a:solidFill>
                  <a:srgbClr val="b8c4d9"/>
                </a:solidFill>
              </a:rPr>
              <a:t>김경진</a:t>
            </a:r>
            <a:endParaRPr lang="ko-KR" altLang="en-US" sz="1200">
              <a:solidFill>
                <a:srgbClr val="b8c4d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수기 통계 정리는 오래 걸리고 오류가 생기기 쉽습니다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시간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원데이터를 엑셀로 가공한 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통계를 매월·매주 손으로 정리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23444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4630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오류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숫자를 옮겨 적는 과정에서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입력 실수 발생 가능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가독성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표 위주라 추이와 문제 지점을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한눈에 보기 어려움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 가공된 엑셀 파일을 올리기만 하면 주요 통계가 대시보드로 바로 보이는 도구가 필요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목표: 엑셀 하나 올리면 대시보드, 그리고 수기 결과로 검증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82880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가공된 원데이터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병원이 준 엑셀 1개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 rot="5400000">
            <a:off x="2350008" y="1874520"/>
            <a:ext cx="164592" cy="182880"/>
          </a:xfrm>
          <a:prstGeom prst="rtTriangl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78608" y="1280160"/>
            <a:ext cx="182880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61488" y="14173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61488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61488" y="1874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업로드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61488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필수 컬럼 10개 자동 검사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 rot="5400000">
            <a:off x="4471416" y="1874520"/>
            <a:ext cx="164592" cy="182880"/>
          </a:xfrm>
          <a:prstGeom prst="rtTriangl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0016" y="128016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E3ECF9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82896" y="14173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82896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82896" y="1874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대시보드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82896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지표·차트·자동 요약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 rot="5400000">
            <a:off x="6592824" y="1874520"/>
            <a:ext cx="164592" cy="182880"/>
          </a:xfrm>
          <a:prstGeom prst="rtTriangl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21424" y="1280160"/>
            <a:ext cx="182880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04304" y="14173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004304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004304" y="1874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보고서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04304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Excel / PDF 내려받기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297180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FF8E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0C"/>
                </a:solidFill>
              </a:rPr>
              <a:t>검증 방법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34747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같은 원데이터로 만든 대시보드 수치와 병원이 수기로 작업한 엑셀의 수치를 비교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차이가 생기면 원인을 찾아 집계 기준에 반영 → 원데이터 + 작업된 엑셀이 함께 필요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Python 웹앱으로 설치 부담 없이 실행합니다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2062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Streamlit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554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웹 화면과 업로드, 필터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2062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103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pandas · openpyxl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77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엑셀 읽기와 월별·진료과별·사유별 집계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2062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926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Plotly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200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이중축 추이 차트, 분포·순위 차트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42062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ReportLab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023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한글 PDF 요약 보고서 생성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1188720"/>
            <a:ext cx="3749040" cy="3154680"/>
          </a:xfrm>
          <a:prstGeom prst="roundRect">
            <a:avLst>
              <a:gd name="adj" fmla="val 2319"/>
            </a:avLst>
          </a:prstGeom>
          <a:solidFill>
            <a:srgbClr val="1B2A4A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1208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실행 방법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182880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CE4F2"/>
                </a:solidFill>
              </a:rPr>
              <a:t>실행.bat 더블클릭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CE4F2"/>
                </a:solidFill>
              </a:rPr>
              <a:t>또는 streamlit run app_v3.py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CE4F2"/>
                </a:solidFill>
              </a:rPr>
              <a:t>브라우저 localhost:8501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CE4F2"/>
                </a:solidFill>
              </a:rPr>
              <a:t>"샘플 데이터로 시작" 또는 엑셀·CSV 업로드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조회 조건을 바꾸면 모든 숫자와 보고서가 함께 바뀝니다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303520" cy="244241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6035040" y="1143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03504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537960" y="11247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기간·환자구분·진료과 필터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537960" y="13990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조회 조건 하나로 화면 전체 연동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035040" y="2011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03504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537960" y="1993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핵심 지표 4개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2677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청구건수·청구금액·조정삭감액·삭감률, 전월 대비 증감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35040" y="28803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0350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2862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경고 기준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537960" y="31363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삭감률이 기준(기본 5%)을 넘으면 경고 배너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35040" y="37490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0350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537960" y="3730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자동 요약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537960" y="40050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통계를 사람이 쓴 문장처럼 정리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차트 4종으로 추이와 문제 사유를 한눈에 봅니다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097280"/>
            <a:ext cx="4206240" cy="3099335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6355080" y="1143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35508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1124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월별 추이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858000" y="13990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청구건수(막대) + 조정·삭감률(선), 경고선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355080" y="2011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35508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858000" y="19933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심사결과 분포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22677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승인·조정·삭감·반려 비율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355080" y="28803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3550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0" y="28620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진료과별 청구금액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31363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금액이 큰 진료과 순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355080" y="37490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35508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0" y="3730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조정·삭감 사유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40050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사유 코드별 발생 건수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3434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+ 상세 통계표(월별·진료과별·원본)와 Excel·PDF 보고서 내려받기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더미 데이터 6개월: 평균 삭감률 4.45%, 1월 최고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37744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161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1,342건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청구건수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37744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0848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9.42억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68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청구금액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237744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9535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4,192만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3375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조정·삭감액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237744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8221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4.45%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2062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평균 조정·삭감률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63240" y="1143000"/>
            <a:ext cx="5623560" cy="3337560"/>
          </a:xfrm>
          <a:prstGeom prst="roundRect">
            <a:avLst>
              <a:gd name="adj" fmla="val 2192"/>
            </a:avLst>
          </a:prstGeom>
          <a:solidFill>
            <a:schemeClr val="bg1"/>
          </a:solidFill>
          <a:ln w="9525">
            <a:solidFill>
              <a:srgbClr val="DDE3EC"/>
            </a:solidFill>
            <a:prstDash val="solid"/>
          </a:ln>
        </p:spPr>
      </p:sp>
      <p:graphicFrame>
        <p:nvGraphicFramePr>
          <p:cNvPr id="16" name="Chart 0" descr=""/>
          <p:cNvGraphicFramePr/>
          <p:nvPr/>
        </p:nvGraphicFramePr>
        <p:xfrm>
          <a:off x="3200400" y="1234440"/>
          <a:ext cx="534924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다음 단계: 병원 실데이터로 수기 결과와 일치 검증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기대 효과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통계 정리 시간 단축, 반복 업무 감소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수기 입력 오류 감소로 보고 신뢰도 향상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삭감 현황을 한눈에 파악해 청구 관리에 활용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향후 계획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0" y="15544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5488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257800" y="1536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병원 데이터 확보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25780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가공된 원데이터 + 수기 작업 엑셀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4231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2404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요구 지표 확정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2697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컬럼명·집계 기준·보고 양식 반영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2918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548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32735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일치율 검증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3566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대시보드 vs 수기 결과 비교, 차이 원인 반영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marL="0" indent="0">
              <a:buNone/>
              <a:defRPr/>
            </a:pPr>
            <a:r>
              <a:rPr lang="en-US" sz="3200" b="1">
                <a:solidFill>
                  <a:schemeClr val="bg1"/>
                </a:solidFill>
              </a:rPr>
              <a:t>감사합니다</a:t>
            </a:r>
            <a:endParaRPr lang="en-US" sz="3200"/>
          </a:p>
        </p:txBody>
      </p:sp>
      <p:sp>
        <p:nvSpPr>
          <p:cNvPr id="3" name="Text 1"/>
          <p:cNvSpPr txBox="1"/>
          <p:nvPr/>
        </p:nvSpPr>
        <p:spPr>
          <a:xfrm>
            <a:off x="548640" y="2788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endParaRPr lang="ko-KR" altLang="en-US" sz="1600">
              <a:solidFill>
                <a:schemeClr val="accent6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a="http://schemas.openxmlformats.org/drawingml/2006/main" name="ClaimStat">
  <a:themeElements>
    <a:clrScheme name="ClaimStat">
      <a:dk1>
        <a:srgbClr val="1B2A4A"/>
      </a:dk1>
      <a:lt1>
        <a:srgbClr val="FFFFFF"/>
      </a:lt1>
      <a:dk2>
        <a:srgbClr val="14213D"/>
      </a:dk2>
      <a:lt2>
        <a:srgbClr val="F2F4F8"/>
      </a:lt2>
      <a:accent1>
        <a:srgbClr val="2563B0"/>
      </a:accent1>
      <a:accent2>
        <a:srgbClr val="C62828"/>
      </a:accent2>
      <a:accent3>
        <a:srgbClr val="F9A825"/>
      </a:accent3>
      <a:accent4>
        <a:srgbClr val="2E7D32"/>
      </a:accent4>
      <a:accent5>
        <a:srgbClr val="8A97AD"/>
      </a:accent5>
      <a:accent6>
        <a:srgbClr val="CADCFC"/>
      </a:accent6>
      <a:hlink>
        <a:srgbClr val="2563B0"/>
      </a:hlink>
      <a:folHlink>
        <a:srgbClr val="6D2E46"/>
      </a:folHlink>
    </a:clrScheme>
    <a:fontScheme name="ClaimStat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ClaimStat">
  <a:themeElements>
    <a:clrScheme name="ClaimStat">
      <a:dk1>
        <a:srgbClr val="1b2a4a"/>
      </a:dk1>
      <a:lt1>
        <a:srgbClr val="ffffff"/>
      </a:lt1>
      <a:dk2>
        <a:srgbClr val="14213d"/>
      </a:dk2>
      <a:lt2>
        <a:srgbClr val="f2f4f8"/>
      </a:lt2>
      <a:accent1>
        <a:srgbClr val="2563b0"/>
      </a:accent1>
      <a:accent2>
        <a:srgbClr val="c62828"/>
      </a:accent2>
      <a:accent3>
        <a:srgbClr val="f9a825"/>
      </a:accent3>
      <a:accent4>
        <a:srgbClr val="2e7d32"/>
      </a:accent4>
      <a:accent5>
        <a:srgbClr val="8a97ad"/>
      </a:accent5>
      <a:accent6>
        <a:srgbClr val="cadcfc"/>
      </a:accent6>
      <a:hlink>
        <a:srgbClr val="2563b0"/>
      </a:hlink>
      <a:folHlink>
        <a:srgbClr val="6d2e46"/>
      </a:folHlink>
    </a:clrScheme>
    <a:fontScheme name="ClaimStat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333</ep:Words>
  <ep:PresentationFormat>On-screen Show (16:9)</ep:PresentationFormat>
  <ep:Paragraphs>107</ep:Paragraphs>
  <ep:Slides>9</ep:Slides>
  <ep:Notes>9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ep:HeadingPairs>
  <ep:TitlesOfParts>
    <vt:vector size="10" baseType="lpstr">
      <vt:lpstr>ClaimStat</vt:lpstr>
      <vt:lpstr>엑셀 업로드형 심사청구 통계 대시보드</vt:lpstr>
      <vt:lpstr>수기 통계 정리는 오래 걸리고 오류가 생기기 쉽습니다</vt:lpstr>
      <vt:lpstr>목표: 엑셀 하나 올리면 대시보드, 그리고 수기 결과로 검증</vt:lpstr>
      <vt:lpstr>Python 웹앱으로 설치 부담 없이 실행합니다</vt:lpstr>
      <vt:lpstr>조회 조건을 바꾸면 모든 숫자와 보고서가 함께 바뀝니다</vt:lpstr>
      <vt:lpstr>차트 4종으로 추이와 문제 사유를 한눈에 봅니다</vt:lpstr>
      <vt:lpstr>더미 데이터 6개월: 평균 삭감률 4.45%, 1월 최고</vt:lpstr>
      <vt:lpstr>다음 단계: 병원 실데이터로 수기 결과와 일치 검증</vt:lpstr>
      <vt:lpstr>감사합니다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2026-10-15T05:53:14.000</dcterms:created>
  <dc:creator>PptxGenJS</dc:creator>
  <cp:lastModifiedBy>나</cp:lastModifiedBy>
  <dcterms:modified xsi:type="dcterms:W3CDTF">2026-10-15T05:55:42.813</dcterms:modified>
  <cp:revision>4</cp:revision>
  <dc:subject>PptxGenJS Presentation</dc:subject>
  <dc:title>심사청구 통계 대시보드 캡스톤 발표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